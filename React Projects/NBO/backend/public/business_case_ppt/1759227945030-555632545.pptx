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1906873739" r:id="rId2"/>
    <p:sldId id="1906873740" r:id="rId3"/>
    <p:sldId id="1906873741" r:id="rId4"/>
    <p:sldId id="285" r:id="rId5"/>
    <p:sldId id="286" r:id="rId6"/>
    <p:sldId id="287" r:id="rId7"/>
    <p:sldId id="288" r:id="rId8"/>
    <p:sldId id="289" r:id="rId9"/>
    <p:sldId id="290" r:id="rId10"/>
    <p:sldId id="1906873742" r:id="rId11"/>
    <p:sldId id="278" r:id="rId12"/>
    <p:sldId id="277" r:id="rId13"/>
    <p:sldId id="1906873743" r:id="rId14"/>
    <p:sldId id="190687374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48A71-0047-C904-C810-8AB0ABDF6E93}" v="4" dt="2025-06-05T07:38:22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72a1d9a5e9885026fe59167d8aed85984c16ab1a22ac410eb97231812d206972::" providerId="AD" clId="Web-{2A1D8049-DE51-B007-DA87-EFDE3022B25F}"/>
    <pc:docChg chg="modSld">
      <pc:chgData name="Guest User" userId="S::urn:spo:anon#72a1d9a5e9885026fe59167d8aed85984c16ab1a22ac410eb97231812d206972::" providerId="AD" clId="Web-{2A1D8049-DE51-B007-DA87-EFDE3022B25F}" dt="2025-05-29T06:01:48.766" v="3"/>
      <pc:docMkLst>
        <pc:docMk/>
      </pc:docMkLst>
      <pc:sldChg chg="modSp">
        <pc:chgData name="Guest User" userId="S::urn:spo:anon#72a1d9a5e9885026fe59167d8aed85984c16ab1a22ac410eb97231812d206972::" providerId="AD" clId="Web-{2A1D8049-DE51-B007-DA87-EFDE3022B25F}" dt="2025-05-29T06:01:48.766" v="3"/>
        <pc:sldMkLst>
          <pc:docMk/>
          <pc:sldMk cId="83889923" sldId="1906873741"/>
        </pc:sldMkLst>
        <pc:graphicFrameChg chg="mod modGraphic">
          <ac:chgData name="Guest User" userId="S::urn:spo:anon#72a1d9a5e9885026fe59167d8aed85984c16ab1a22ac410eb97231812d206972::" providerId="AD" clId="Web-{2A1D8049-DE51-B007-DA87-EFDE3022B25F}" dt="2025-05-29T06:01:48.766" v="3"/>
          <ac:graphicFrameMkLst>
            <pc:docMk/>
            <pc:sldMk cId="83889923" sldId="1906873741"/>
            <ac:graphicFrameMk id="2" creationId="{E968F4D3-CFE6-3E80-1662-7D699BCA8EA4}"/>
          </ac:graphicFrameMkLst>
        </pc:graphicFrameChg>
      </pc:sldChg>
    </pc:docChg>
  </pc:docChgLst>
  <pc:docChgLst>
    <pc:chgData name="Sohaib Syed" userId="S::sohaib.syed@apsissolutions.com::e44e51ab-f3f4-444a-94a5-978057faee85" providerId="AD" clId="Web-{4A92ECCB-BBB5-6615-8896-AE043799EF2F}"/>
    <pc:docChg chg="modSld">
      <pc:chgData name="Sohaib Syed" userId="S::sohaib.syed@apsissolutions.com::e44e51ab-f3f4-444a-94a5-978057faee85" providerId="AD" clId="Web-{4A92ECCB-BBB5-6615-8896-AE043799EF2F}" dt="2025-03-03T04:49:52.639" v="2"/>
      <pc:docMkLst>
        <pc:docMk/>
      </pc:docMkLst>
      <pc:sldChg chg="modSp">
        <pc:chgData name="Sohaib Syed" userId="S::sohaib.syed@apsissolutions.com::e44e51ab-f3f4-444a-94a5-978057faee85" providerId="AD" clId="Web-{4A92ECCB-BBB5-6615-8896-AE043799EF2F}" dt="2025-03-03T04:49:52.639" v="2"/>
        <pc:sldMkLst>
          <pc:docMk/>
          <pc:sldMk cId="3251879962" sldId="1906873740"/>
        </pc:sldMkLst>
        <pc:graphicFrameChg chg="modGraphic">
          <ac:chgData name="Sohaib Syed" userId="S::sohaib.syed@apsissolutions.com::e44e51ab-f3f4-444a-94a5-978057faee85" providerId="AD" clId="Web-{4A92ECCB-BBB5-6615-8896-AE043799EF2F}" dt="2025-03-03T04:49:52.639" v="2"/>
          <ac:graphicFrameMkLst>
            <pc:docMk/>
            <pc:sldMk cId="3251879962" sldId="1906873740"/>
            <ac:graphicFrameMk id="8" creationId="{8A33EF31-63E1-EC96-868B-E89889AB56AA}"/>
          </ac:graphicFrameMkLst>
        </pc:graphicFrameChg>
      </pc:sldChg>
      <pc:sldChg chg="modSp">
        <pc:chgData name="Sohaib Syed" userId="S::sohaib.syed@apsissolutions.com::e44e51ab-f3f4-444a-94a5-978057faee85" providerId="AD" clId="Web-{4A92ECCB-BBB5-6615-8896-AE043799EF2F}" dt="2025-03-03T04:45:26.659" v="1"/>
        <pc:sldMkLst>
          <pc:docMk/>
          <pc:sldMk cId="83889923" sldId="1906873741"/>
        </pc:sldMkLst>
        <pc:graphicFrameChg chg="modGraphic">
          <ac:chgData name="Sohaib Syed" userId="S::sohaib.syed@apsissolutions.com::e44e51ab-f3f4-444a-94a5-978057faee85" providerId="AD" clId="Web-{4A92ECCB-BBB5-6615-8896-AE043799EF2F}" dt="2025-03-03T04:45:26.659" v="1"/>
          <ac:graphicFrameMkLst>
            <pc:docMk/>
            <pc:sldMk cId="83889923" sldId="1906873741"/>
            <ac:graphicFrameMk id="2" creationId="{E968F4D3-CFE6-3E80-1662-7D699BCA8EA4}"/>
          </ac:graphicFrameMkLst>
        </pc:graphicFrameChg>
      </pc:sldChg>
    </pc:docChg>
  </pc:docChgLst>
  <pc:docChgLst>
    <pc:chgData name="Guest User" userId="S::urn:spo:anon#3fa48331c295d1e7c68c05186cad88722a351842c9ee920bf04da5003c368b5e::" providerId="AD" clId="Web-{42448A71-0047-C904-C810-8AB0ABDF6E93}"/>
    <pc:docChg chg="modSld">
      <pc:chgData name="Guest User" userId="S::urn:spo:anon#3fa48331c295d1e7c68c05186cad88722a351842c9ee920bf04da5003c368b5e::" providerId="AD" clId="Web-{42448A71-0047-C904-C810-8AB0ABDF6E93}" dt="2025-06-05T07:38:22.474" v="3"/>
      <pc:docMkLst>
        <pc:docMk/>
      </pc:docMkLst>
      <pc:sldChg chg="modSp">
        <pc:chgData name="Guest User" userId="S::urn:spo:anon#3fa48331c295d1e7c68c05186cad88722a351842c9ee920bf04da5003c368b5e::" providerId="AD" clId="Web-{42448A71-0047-C904-C810-8AB0ABDF6E93}" dt="2025-06-05T07:38:22.474" v="3"/>
        <pc:sldMkLst>
          <pc:docMk/>
          <pc:sldMk cId="541221342" sldId="285"/>
        </pc:sldMkLst>
        <pc:graphicFrameChg chg="modGraphic">
          <ac:chgData name="Guest User" userId="S::urn:spo:anon#3fa48331c295d1e7c68c05186cad88722a351842c9ee920bf04da5003c368b5e::" providerId="AD" clId="Web-{42448A71-0047-C904-C810-8AB0ABDF6E93}" dt="2025-06-05T07:38:22.474" v="3"/>
          <ac:graphicFrameMkLst>
            <pc:docMk/>
            <pc:sldMk cId="541221342" sldId="285"/>
            <ac:graphicFrameMk id="2" creationId="{8B394214-B06C-4C01-A5E7-5A10E93552F6}"/>
          </ac:graphicFrameMkLst>
        </pc:graphicFrameChg>
      </pc:sldChg>
      <pc:sldChg chg="modSp">
        <pc:chgData name="Guest User" userId="S::urn:spo:anon#3fa48331c295d1e7c68c05186cad88722a351842c9ee920bf04da5003c368b5e::" providerId="AD" clId="Web-{42448A71-0047-C904-C810-8AB0ABDF6E93}" dt="2025-06-03T12:13:57.453" v="0"/>
        <pc:sldMkLst>
          <pc:docMk/>
          <pc:sldMk cId="2510049584" sldId="286"/>
        </pc:sldMkLst>
        <pc:graphicFrameChg chg="mod modGraphic">
          <ac:chgData name="Guest User" userId="S::urn:spo:anon#3fa48331c295d1e7c68c05186cad88722a351842c9ee920bf04da5003c368b5e::" providerId="AD" clId="Web-{42448A71-0047-C904-C810-8AB0ABDF6E93}" dt="2025-06-03T12:13:57.453" v="0"/>
          <ac:graphicFrameMkLst>
            <pc:docMk/>
            <pc:sldMk cId="2510049584" sldId="286"/>
            <ac:graphicFrameMk id="2" creationId="{95E2EB75-E7B2-DF78-8C3F-F2FF09F6B51A}"/>
          </ac:graphicFrameMkLst>
        </pc:graphicFrameChg>
      </pc:sldChg>
      <pc:sldChg chg="modSp">
        <pc:chgData name="Guest User" userId="S::urn:spo:anon#3fa48331c295d1e7c68c05186cad88722a351842c9ee920bf04da5003c368b5e::" providerId="AD" clId="Web-{42448A71-0047-C904-C810-8AB0ABDF6E93}" dt="2025-06-03T12:14:55.017" v="2"/>
        <pc:sldMkLst>
          <pc:docMk/>
          <pc:sldMk cId="83889923" sldId="1906873741"/>
        </pc:sldMkLst>
        <pc:graphicFrameChg chg="modGraphic">
          <ac:chgData name="Guest User" userId="S::urn:spo:anon#3fa48331c295d1e7c68c05186cad88722a351842c9ee920bf04da5003c368b5e::" providerId="AD" clId="Web-{42448A71-0047-C904-C810-8AB0ABDF6E93}" dt="2025-06-03T12:14:55.017" v="2"/>
          <ac:graphicFrameMkLst>
            <pc:docMk/>
            <pc:sldMk cId="83889923" sldId="1906873741"/>
            <ac:graphicFrameMk id="2" creationId="{E968F4D3-CFE6-3E80-1662-7D699BCA8EA4}"/>
          </ac:graphicFrameMkLst>
        </pc:graphicFrameChg>
      </pc:sldChg>
    </pc:docChg>
  </pc:docChgLst>
  <pc:docChgLst>
    <pc:chgData name="Sohaib Syed" userId="S::sohaib.syed@apsissolutions.com::e44e51ab-f3f4-444a-94a5-978057faee85" providerId="AD" clId="Web-{30254205-0673-CDE2-162F-C8454E8576E4}"/>
    <pc:docChg chg="modSld">
      <pc:chgData name="Sohaib Syed" userId="S::sohaib.syed@apsissolutions.com::e44e51ab-f3f4-444a-94a5-978057faee85" providerId="AD" clId="Web-{30254205-0673-CDE2-162F-C8454E8576E4}" dt="2025-04-25T07:49:40.932" v="2"/>
      <pc:docMkLst>
        <pc:docMk/>
      </pc:docMkLst>
      <pc:sldChg chg="modSp">
        <pc:chgData name="Sohaib Syed" userId="S::sohaib.syed@apsissolutions.com::e44e51ab-f3f4-444a-94a5-978057faee85" providerId="AD" clId="Web-{30254205-0673-CDE2-162F-C8454E8576E4}" dt="2025-04-25T07:49:40.932" v="2"/>
        <pc:sldMkLst>
          <pc:docMk/>
          <pc:sldMk cId="1555256073" sldId="277"/>
        </pc:sldMkLst>
        <pc:graphicFrameChg chg="modGraphic">
          <ac:chgData name="Sohaib Syed" userId="S::sohaib.syed@apsissolutions.com::e44e51ab-f3f4-444a-94a5-978057faee85" providerId="AD" clId="Web-{30254205-0673-CDE2-162F-C8454E8576E4}" dt="2025-04-25T07:49:40.932" v="2"/>
          <ac:graphicFrameMkLst>
            <pc:docMk/>
            <pc:sldMk cId="1555256073" sldId="277"/>
            <ac:graphicFrameMk id="5" creationId="{3BC66B21-D683-662A-C126-5940F7194E66}"/>
          </ac:graphicFrameMkLst>
        </pc:graphicFrameChg>
      </pc:sldChg>
      <pc:sldChg chg="modSp">
        <pc:chgData name="Sohaib Syed" userId="S::sohaib.syed@apsissolutions.com::e44e51ab-f3f4-444a-94a5-978057faee85" providerId="AD" clId="Web-{30254205-0673-CDE2-162F-C8454E8576E4}" dt="2025-04-25T07:32:30.061" v="0"/>
        <pc:sldMkLst>
          <pc:docMk/>
          <pc:sldMk cId="462783561" sldId="288"/>
        </pc:sldMkLst>
        <pc:graphicFrameChg chg="modGraphic">
          <ac:chgData name="Sohaib Syed" userId="S::sohaib.syed@apsissolutions.com::e44e51ab-f3f4-444a-94a5-978057faee85" providerId="AD" clId="Web-{30254205-0673-CDE2-162F-C8454E8576E4}" dt="2025-04-25T07:32:30.061" v="0"/>
          <ac:graphicFrameMkLst>
            <pc:docMk/>
            <pc:sldMk cId="462783561" sldId="288"/>
            <ac:graphicFrameMk id="2" creationId="{AC7F4AA7-B6A3-811C-D476-030F712BDDC6}"/>
          </ac:graphicFrameMkLst>
        </pc:graphicFrameChg>
      </pc:sldChg>
    </pc:docChg>
  </pc:docChgLst>
  <pc:docChgLst>
    <pc:chgData name="Sohaib Syed" userId="S::sohaib.syed@apsissolutions.com::e44e51ab-f3f4-444a-94a5-978057faee85" providerId="AD" clId="Web-{918C439C-A4D3-5C28-3907-AFA0679A5124}"/>
    <pc:docChg chg="modSld">
      <pc:chgData name="Sohaib Syed" userId="S::sohaib.syed@apsissolutions.com::e44e51ab-f3f4-444a-94a5-978057faee85" providerId="AD" clId="Web-{918C439C-A4D3-5C28-3907-AFA0679A5124}" dt="2025-02-26T18:03:27.421" v="6"/>
      <pc:docMkLst>
        <pc:docMk/>
      </pc:docMkLst>
      <pc:sldChg chg="modSp">
        <pc:chgData name="Sohaib Syed" userId="S::sohaib.syed@apsissolutions.com::e44e51ab-f3f4-444a-94a5-978057faee85" providerId="AD" clId="Web-{918C439C-A4D3-5C28-3907-AFA0679A5124}" dt="2025-02-26T17:54:24.807" v="5"/>
        <pc:sldMkLst>
          <pc:docMk/>
          <pc:sldMk cId="83889923" sldId="1906873741"/>
        </pc:sldMkLst>
        <pc:graphicFrameChg chg="mod modGraphic">
          <ac:chgData name="Sohaib Syed" userId="S::sohaib.syed@apsissolutions.com::e44e51ab-f3f4-444a-94a5-978057faee85" providerId="AD" clId="Web-{918C439C-A4D3-5C28-3907-AFA0679A5124}" dt="2025-02-26T17:54:24.807" v="5"/>
          <ac:graphicFrameMkLst>
            <pc:docMk/>
            <pc:sldMk cId="83889923" sldId="1906873741"/>
            <ac:graphicFrameMk id="2" creationId="{E968F4D3-CFE6-3E80-1662-7D699BCA8EA4}"/>
          </ac:graphicFrameMkLst>
        </pc:graphicFrameChg>
      </pc:sldChg>
      <pc:sldChg chg="modSp">
        <pc:chgData name="Sohaib Syed" userId="S::sohaib.syed@apsissolutions.com::e44e51ab-f3f4-444a-94a5-978057faee85" providerId="AD" clId="Web-{918C439C-A4D3-5C28-3907-AFA0679A5124}" dt="2025-02-26T18:03:27.421" v="6"/>
        <pc:sldMkLst>
          <pc:docMk/>
          <pc:sldMk cId="633998950" sldId="1906873744"/>
        </pc:sldMkLst>
        <pc:graphicFrameChg chg="modGraphic">
          <ac:chgData name="Sohaib Syed" userId="S::sohaib.syed@apsissolutions.com::e44e51ab-f3f4-444a-94a5-978057faee85" providerId="AD" clId="Web-{918C439C-A4D3-5C28-3907-AFA0679A5124}" dt="2025-02-26T18:03:27.421" v="6"/>
          <ac:graphicFrameMkLst>
            <pc:docMk/>
            <pc:sldMk cId="633998950" sldId="1906873744"/>
            <ac:graphicFrameMk id="5" creationId="{0342D542-3023-789C-BD18-EC795E4A2266}"/>
          </ac:graphicFrameMkLst>
        </pc:graphicFrameChg>
      </pc:sldChg>
    </pc:docChg>
  </pc:docChgLst>
  <pc:docChgLst>
    <pc:chgData name="Guest User" userId="S::urn:spo:anon#72a1d9a5e9885026fe59167d8aed85984c16ab1a22ac410eb97231812d206972::" providerId="AD" clId="Web-{BD5FF848-74E2-4658-D9B1-29891B637BFA}"/>
    <pc:docChg chg="modSld">
      <pc:chgData name="Guest User" userId="S::urn:spo:anon#72a1d9a5e9885026fe59167d8aed85984c16ab1a22ac410eb97231812d206972::" providerId="AD" clId="Web-{BD5FF848-74E2-4658-D9B1-29891B637BFA}" dt="2025-03-24T06:45:30.750" v="2"/>
      <pc:docMkLst>
        <pc:docMk/>
      </pc:docMkLst>
      <pc:sldChg chg="modSp">
        <pc:chgData name="Guest User" userId="S::urn:spo:anon#72a1d9a5e9885026fe59167d8aed85984c16ab1a22ac410eb97231812d206972::" providerId="AD" clId="Web-{BD5FF848-74E2-4658-D9B1-29891B637BFA}" dt="2025-03-24T06:45:30.750" v="2"/>
        <pc:sldMkLst>
          <pc:docMk/>
          <pc:sldMk cId="83889923" sldId="1906873741"/>
        </pc:sldMkLst>
        <pc:graphicFrameChg chg="mod modGraphic">
          <ac:chgData name="Guest User" userId="S::urn:spo:anon#72a1d9a5e9885026fe59167d8aed85984c16ab1a22ac410eb97231812d206972::" providerId="AD" clId="Web-{BD5FF848-74E2-4658-D9B1-29891B637BFA}" dt="2025-03-24T06:45:30.750" v="2"/>
          <ac:graphicFrameMkLst>
            <pc:docMk/>
            <pc:sldMk cId="83889923" sldId="1906873741"/>
            <ac:graphicFrameMk id="2" creationId="{E968F4D3-CFE6-3E80-1662-7D699BCA8EA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70EA1-F702-414A-9373-18BB04692B5C}" type="datetimeFigureOut"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8C5FF-7CA6-4325-931A-6118E2622A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9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2BE4C-5706-4F74-AB6E-7871508DB910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3029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7351E-5EED-BB98-1F90-A849F407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3A579A-E7F6-45BC-8971-E224B7C5DE6B}" type="datetimeFigureOut">
              <a:rPr lang="en-MY" smtClean="0"/>
              <a:t>5/6/2025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B3ABB-E9AB-A913-5D0C-42AA8731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A7D29-85E7-7F56-1FE0-82273891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806CE2-0700-47E3-8E17-D7CC36CADDEF}" type="slidenum">
              <a:rPr lang="en-MY" smtClean="0"/>
              <a:t>‹#›</a:t>
            </a:fld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41F929-C359-599E-C7AF-8B01087A5693}"/>
              </a:ext>
            </a:extLst>
          </p:cNvPr>
          <p:cNvSpPr/>
          <p:nvPr userDrawn="1"/>
        </p:nvSpPr>
        <p:spPr>
          <a:xfrm>
            <a:off x="2209800" y="1176462"/>
            <a:ext cx="9138920" cy="108000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37000">
                <a:srgbClr val="0070C0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578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AB16-93C8-7F21-29B8-4DA69D62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NBOL Generic Leadership Competencies &amp; Framework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23469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8A0B9D-13E9-A5FB-8609-A9AC51BFFF11}"/>
              </a:ext>
            </a:extLst>
          </p:cNvPr>
          <p:cNvGraphicFramePr>
            <a:graphicFrameLocks noGrp="1"/>
          </p:cNvGraphicFramePr>
          <p:nvPr/>
        </p:nvGraphicFramePr>
        <p:xfrm>
          <a:off x="841611" y="1444388"/>
          <a:ext cx="1037833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5927">
                  <a:extLst>
                    <a:ext uri="{9D8B030D-6E8A-4147-A177-3AD203B41FA5}">
                      <a16:colId xmlns:a16="http://schemas.microsoft.com/office/drawing/2014/main" val="2424729458"/>
                    </a:ext>
                  </a:extLst>
                </a:gridCol>
                <a:gridCol w="6512403">
                  <a:extLst>
                    <a:ext uri="{9D8B030D-6E8A-4147-A177-3AD203B41FA5}">
                      <a16:colId xmlns:a16="http://schemas.microsoft.com/office/drawing/2014/main" val="385050341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MY"/>
                        <a:t>Strategic Leadership Competencies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60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b="1"/>
                        <a:t>Strategic Vision and Insight</a:t>
                      </a:r>
                      <a:endParaRPr lang="en-US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Anticipate industry shifts, aligning organisational goals with long-term trends, and inspiring a culture of strategic thinking.</a:t>
                      </a:r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54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b="1"/>
                        <a:t>Business Acumen and Financial Stewardship</a:t>
                      </a:r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Balanced financial stewardship with strategic decision-making, resource efficiency, and ethical business practices.</a:t>
                      </a:r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545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b="1"/>
                        <a:t>Innovation and Transformation Leadership</a:t>
                      </a:r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Champion innovation, foster adaptability, and lead transformation initiatives to align with organisational goals.</a:t>
                      </a:r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35158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A33EF31-63E1-EC96-868B-E89889AB5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058616"/>
              </p:ext>
            </p:extLst>
          </p:nvPr>
        </p:nvGraphicFramePr>
        <p:xfrm>
          <a:off x="875731" y="3969223"/>
          <a:ext cx="10344227" cy="2291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853224">
                  <a:extLst>
                    <a:ext uri="{9D8B030D-6E8A-4147-A177-3AD203B41FA5}">
                      <a16:colId xmlns:a16="http://schemas.microsoft.com/office/drawing/2014/main" val="2424729458"/>
                    </a:ext>
                  </a:extLst>
                </a:gridCol>
                <a:gridCol w="6491003">
                  <a:extLst>
                    <a:ext uri="{9D8B030D-6E8A-4147-A177-3AD203B41FA5}">
                      <a16:colId xmlns:a16="http://schemas.microsoft.com/office/drawing/2014/main" val="385050341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MY" dirty="0"/>
                        <a:t>People Leadership Competencies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607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b="1" dirty="0"/>
                        <a:t>Inspirational Leadership and Decision-Making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Inspire confidence, model resilience, and make impactful decisions to guide teams effectively.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549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b="1" dirty="0"/>
                        <a:t>Collaborative Influence and Stakeholder Engagement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Build trust with stakeholders, influence outcomes, and foster cross-functional collaboration.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545094"/>
                  </a:ext>
                </a:extLst>
              </a:tr>
              <a:tr h="62933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en-US" b="1" dirty="0"/>
                        <a:t>Talent Development and Inclusion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Nurture talent, promote diversity, and create a high-performing, inclusive </a:t>
                      </a:r>
                      <a:r>
                        <a:rPr lang="en-US" dirty="0" err="1"/>
                        <a:t>organisational</a:t>
                      </a:r>
                      <a:r>
                        <a:rPr lang="en-US" dirty="0"/>
                        <a:t> culture.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35158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BDBB89-B1CC-A8F5-A3A1-A08AFBDAC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Strategic Leadership Competencies</a:t>
            </a:r>
          </a:p>
        </p:txBody>
      </p:sp>
    </p:spTree>
    <p:extLst>
      <p:ext uri="{BB962C8B-B14F-4D97-AF65-F5344CB8AC3E}">
        <p14:creationId xmlns:p14="http://schemas.microsoft.com/office/powerpoint/2010/main" val="325187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68F4D3-CFE6-3E80-1662-7D699BCA8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45361"/>
              </p:ext>
            </p:extLst>
          </p:nvPr>
        </p:nvGraphicFramePr>
        <p:xfrm>
          <a:off x="1008184" y="1524000"/>
          <a:ext cx="10040018" cy="4485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0044">
                  <a:extLst>
                    <a:ext uri="{9D8B030D-6E8A-4147-A177-3AD203B41FA5}">
                      <a16:colId xmlns:a16="http://schemas.microsoft.com/office/drawing/2014/main" val="4241108046"/>
                    </a:ext>
                  </a:extLst>
                </a:gridCol>
                <a:gridCol w="2478215">
                  <a:extLst>
                    <a:ext uri="{9D8B030D-6E8A-4147-A177-3AD203B41FA5}">
                      <a16:colId xmlns:a16="http://schemas.microsoft.com/office/drawing/2014/main" val="4186214336"/>
                    </a:ext>
                  </a:extLst>
                </a:gridCol>
                <a:gridCol w="2755446">
                  <a:extLst>
                    <a:ext uri="{9D8B030D-6E8A-4147-A177-3AD203B41FA5}">
                      <a16:colId xmlns:a16="http://schemas.microsoft.com/office/drawing/2014/main" val="1449411172"/>
                    </a:ext>
                  </a:extLst>
                </a:gridCol>
                <a:gridCol w="2436313">
                  <a:extLst>
                    <a:ext uri="{9D8B030D-6E8A-4147-A177-3AD203B41FA5}">
                      <a16:colId xmlns:a16="http://schemas.microsoft.com/office/drawing/2014/main" val="5705624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MY" dirty="0"/>
                        <a:t>Leadership Levels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31384"/>
                  </a:ext>
                </a:extLst>
              </a:tr>
              <a:tr h="357187"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33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Leading Self 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Leading Others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Leading Managers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Leading the </a:t>
                      </a:r>
                      <a:r>
                        <a:rPr lang="en-US" b="1" dirty="0" err="1"/>
                        <a:t>Organisation</a:t>
                      </a:r>
                      <a:r>
                        <a:rPr lang="en-US" b="1" dirty="0"/>
                        <a:t> </a:t>
                      </a:r>
                      <a:endParaRPr lang="en-MY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6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Focus on individual contributions, learning, and aligning personal goals with </a:t>
                      </a:r>
                      <a:r>
                        <a:rPr lang="en-US" sz="1800" err="1"/>
                        <a:t>organisational</a:t>
                      </a:r>
                      <a:r>
                        <a:rPr lang="en-US" sz="1800" dirty="0"/>
                        <a:t> objectives.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Typically: Executives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Involves managing and developing teams, driving team performance, and ensuring alignment with </a:t>
                      </a:r>
                      <a:r>
                        <a:rPr lang="en-US" sz="1800" err="1"/>
                        <a:t>organisational</a:t>
                      </a:r>
                      <a:r>
                        <a:rPr lang="en-US" sz="1800" dirty="0"/>
                        <a:t> goals.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Typically: Managers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Focus on overseeing managers, aligning departmental goals with </a:t>
                      </a:r>
                      <a:r>
                        <a:rPr lang="en-US" sz="1800" err="1"/>
                        <a:t>organisational</a:t>
                      </a:r>
                      <a:r>
                        <a:rPr lang="en-US" sz="1800" dirty="0"/>
                        <a:t> strategy, and building leadership capabilities.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Typically: Senior </a:t>
                      </a:r>
                      <a:r>
                        <a:rPr lang="en-US" sz="1800" err="1"/>
                        <a:t>Mgrs</a:t>
                      </a:r>
                      <a:endParaRPr lang="en-US" sz="18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Involves driving </a:t>
                      </a:r>
                      <a:r>
                        <a:rPr lang="en-US" sz="1800" dirty="0" err="1"/>
                        <a:t>organisational</a:t>
                      </a:r>
                      <a:r>
                        <a:rPr lang="en-US" sz="1800" dirty="0"/>
                        <a:t> vision, fostering collaboration across departments, and making high-level strategic decisions.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Typically: C-Suite.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572928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CDD0C49-E842-3C5D-22AA-FFD01D51066E}"/>
              </a:ext>
            </a:extLst>
          </p:cNvPr>
          <p:cNvSpPr txBox="1">
            <a:spLocks/>
          </p:cNvSpPr>
          <p:nvPr/>
        </p:nvSpPr>
        <p:spPr>
          <a:xfrm>
            <a:off x="838200" y="608965"/>
            <a:ext cx="10515600" cy="8113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/>
            <a:r>
              <a:rPr lang="en-MY"/>
              <a:t>Leadership Levels</a:t>
            </a:r>
          </a:p>
        </p:txBody>
      </p:sp>
    </p:spTree>
    <p:extLst>
      <p:ext uri="{BB962C8B-B14F-4D97-AF65-F5344CB8AC3E}">
        <p14:creationId xmlns:p14="http://schemas.microsoft.com/office/powerpoint/2010/main" val="8388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18B39-BF3F-9579-E90E-8633A8DA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394214-B06C-4C01-A5E7-5A10E9355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623955"/>
              </p:ext>
            </p:extLst>
          </p:nvPr>
        </p:nvGraphicFramePr>
        <p:xfrm>
          <a:off x="784970" y="329024"/>
          <a:ext cx="10383520" cy="634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4241108046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4186214336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1449411172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5705624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MY"/>
                        <a:t>Strategic Vision and Insight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31384"/>
                  </a:ext>
                </a:extLst>
              </a:tr>
              <a:tr h="621926">
                <a:tc>
                  <a:txBody>
                    <a:bodyPr/>
                    <a:lstStyle/>
                    <a:p>
                      <a:r>
                        <a:rPr lang="en-US" b="1"/>
                        <a:t>Leading Self 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Others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Managers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the Organisation </a:t>
                      </a:r>
                      <a:endParaRPr lang="en-MY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6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Aligns daily work with organisational strategic priorities.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</a:t>
                      </a:r>
                      <a:r>
                        <a:rPr lang="en-US" sz="1600" strike="noStrike"/>
                        <a:t>. Identifies </a:t>
                      </a:r>
                      <a:r>
                        <a:rPr lang="en-US" sz="1600"/>
                        <a:t>and aligns team goals with organisational strategy.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Translates organisational vision into actionable and measurable objectives.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Inspires and communicates a bold vision for organisational success.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57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Demonstrates awareness of long-term business goals.</a:t>
                      </a:r>
                    </a:p>
                    <a:p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Leads</a:t>
                      </a:r>
                      <a:r>
                        <a:rPr lang="en-US" sz="1600"/>
                        <a:t> with clarity and purpose within operational plans.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Promotes a forward-thinking mindset within teams.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2. Demonstrates foresight in anticipating industry shifts and challenges.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3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Communicates effectively about how individual tasks contribute to strategy.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Encourages team contribution to strategic discussions.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</a:t>
                      </a:r>
                      <a:r>
                        <a:rPr lang="en-US" sz="1600" strike="noStrike">
                          <a:solidFill>
                            <a:schemeClr val="tx1"/>
                          </a:solidFill>
                        </a:rPr>
                        <a:t>Aligns </a:t>
                      </a:r>
                      <a:r>
                        <a:rPr lang="en-US" sz="1600" strike="noStrike"/>
                        <a:t>team</a:t>
                      </a:r>
                      <a:r>
                        <a:rPr lang="en-US" sz="1600"/>
                        <a:t> efforts with strategic goals.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3. Aligns organisational priorities with long-term goals and global trends.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2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Seeks to understand and contribute to broader organisational objectives.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Demonstrates adaptability in responding to changing priorities.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Provides insights that shape broader </a:t>
                      </a:r>
                      <a:r>
                        <a:rPr lang="en-US" sz="1600" err="1"/>
                        <a:t>organisational</a:t>
                      </a:r>
                      <a:r>
                        <a:rPr lang="en-US" sz="1600"/>
                        <a:t> strategies.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4. Empowers teams to innovate and adapt strategies to meet evolving demands.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774341"/>
                  </a:ext>
                </a:extLst>
              </a:tr>
              <a:tr h="432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Adapts proactively to strategic shifts and priorities.</a:t>
                      </a:r>
                    </a:p>
                    <a:p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</a:t>
                      </a:r>
                      <a:r>
                        <a:rPr lang="en-US" sz="1600" strike="noStrike">
                          <a:solidFill>
                            <a:schemeClr val="tx1"/>
                          </a:solidFill>
                        </a:rPr>
                        <a:t>Champions the implementation of  </a:t>
                      </a:r>
                      <a:r>
                        <a:rPr lang="en-US" sz="1600" strike="noStrike"/>
                        <a:t>innovative solutions.</a:t>
                      </a:r>
                      <a:endParaRPr lang="en-MY" sz="1600" strike="noStrike">
                        <a:solidFill>
                          <a:srgbClr val="0063B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5. Builds consensus around strategic initiatives among stakeholders.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5. Advocates for a culture of strategic thinking across the organisation.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89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22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99F6-5014-8778-0FE8-E5D91303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E2EB75-E7B2-DF78-8C3F-F2FF09F6B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457376"/>
              </p:ext>
            </p:extLst>
          </p:nvPr>
        </p:nvGraphicFramePr>
        <p:xfrm>
          <a:off x="820615" y="363415"/>
          <a:ext cx="10460239" cy="6101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2602">
                  <a:extLst>
                    <a:ext uri="{9D8B030D-6E8A-4147-A177-3AD203B41FA5}">
                      <a16:colId xmlns:a16="http://schemas.microsoft.com/office/drawing/2014/main" val="4241108046"/>
                    </a:ext>
                  </a:extLst>
                </a:gridCol>
                <a:gridCol w="2595879">
                  <a:extLst>
                    <a:ext uri="{9D8B030D-6E8A-4147-A177-3AD203B41FA5}">
                      <a16:colId xmlns:a16="http://schemas.microsoft.com/office/drawing/2014/main" val="4186214336"/>
                    </a:ext>
                  </a:extLst>
                </a:gridCol>
                <a:gridCol w="2595879">
                  <a:extLst>
                    <a:ext uri="{9D8B030D-6E8A-4147-A177-3AD203B41FA5}">
                      <a16:colId xmlns:a16="http://schemas.microsoft.com/office/drawing/2014/main" val="1449411172"/>
                    </a:ext>
                  </a:extLst>
                </a:gridCol>
                <a:gridCol w="2595879">
                  <a:extLst>
                    <a:ext uri="{9D8B030D-6E8A-4147-A177-3AD203B41FA5}">
                      <a16:colId xmlns:a16="http://schemas.microsoft.com/office/drawing/2014/main" val="5705624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Business Acumen and Financial Stewardship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Leading Self 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Others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Managers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the Organisation </a:t>
                      </a:r>
                      <a:endParaRPr lang="en-MY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6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Demonstrates fiscal responsibility and a commitment to organisational goals.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Demonstrates strong problem-solving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capability </a:t>
                      </a:r>
                      <a:r>
                        <a:rPr lang="en-US" sz="1600"/>
                        <a:t>in business operations.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1. </a:t>
                      </a:r>
                      <a:r>
                        <a:rPr lang="en-US" sz="1600" err="1">
                          <a:solidFill>
                            <a:schemeClr val="tx1"/>
                          </a:solidFill>
                        </a:rPr>
                        <a:t>Optimises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/>
                        <a:t>resource efficiency and strategic budget allocation.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Demonstrates strategic </a:t>
                      </a:r>
                      <a:r>
                        <a:rPr lang="en-US" sz="1600" err="1"/>
                        <a:t>optimisation</a:t>
                      </a:r>
                      <a:r>
                        <a:rPr lang="en-US" sz="1600"/>
                        <a:t> of </a:t>
                      </a:r>
                      <a:r>
                        <a:rPr lang="en-US" sz="1600" err="1"/>
                        <a:t>organisational</a:t>
                      </a:r>
                      <a:r>
                        <a:rPr lang="en-US" sz="1600"/>
                        <a:t> resources.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57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Embraces opportunities to learn about organisational operations.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/>
                        <a:t>2. Enhances team understanding of broader financial and</a:t>
                      </a:r>
                      <a:r>
                        <a:rPr lang="en-US" sz="1600" strike="noStrike"/>
                        <a:t> </a:t>
                      </a:r>
                      <a:r>
                        <a:rPr lang="en-US" sz="1600" strike="noStrike">
                          <a:solidFill>
                            <a:schemeClr val="tx1"/>
                          </a:solidFill>
                        </a:rPr>
                        <a:t>business </a:t>
                      </a:r>
                      <a:r>
                        <a:rPr lang="en-US" sz="1600"/>
                        <a:t>implications.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Integrates customer and market insights into business planning.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2. Influences organisational decisions with a holistic understanding of the business ecosystem.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3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Cultivates </a:t>
                      </a:r>
                      <a:r>
                        <a:rPr lang="en-US" sz="1600"/>
                        <a:t>a mindset of continuous improvement and efficiency.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Leads team efforts to execute departmental strategies effectively.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Balances financial health and innovation in decision-making.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3. Balances financial stewardship with long-term business growth.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2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Supports team efforts by contributing insights and observations.</a:t>
                      </a:r>
                      <a:endParaRPr lang="en-MY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Champions responsible and impactful resource use.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</a:t>
                      </a:r>
                      <a:r>
                        <a:rPr lang="en-US" sz="1600" strike="noStrike"/>
                        <a:t>Acts as a role model for </a:t>
                      </a:r>
                      <a:r>
                        <a:rPr lang="en-US" sz="1600"/>
                        <a:t>ethical and data-driven decision-making.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4. Guides the organisation towards sustainable and ethical practices.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77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Exhibits proactive learning about how daily operations impact the business.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Cultivates an innovative approach to team processes and problem-solving.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Builds team capabilities to understand and act on key business drivers.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5. Cultivates accountability and ownership in budget management across teams.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89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049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03F3-E332-EF01-432C-5F6FB389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C4FE86-9316-D015-73E7-CE45D372D2F8}"/>
              </a:ext>
            </a:extLst>
          </p:cNvPr>
          <p:cNvGraphicFramePr>
            <a:graphicFrameLocks noGrp="1"/>
          </p:cNvGraphicFramePr>
          <p:nvPr/>
        </p:nvGraphicFramePr>
        <p:xfrm>
          <a:off x="904240" y="526626"/>
          <a:ext cx="10383520" cy="5369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4241108046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4186214336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1449411172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5705624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Innovation and Transformation Leadership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Leading Self 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Others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Managers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the Organisation </a:t>
                      </a:r>
                      <a:endParaRPr lang="en-MY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6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Participates enthusiastically in innovation efforts.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Encourages process improvements and team collaboration.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Leads innovation projects with a clear focus on business impact.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Champions a culture of innovation and transformation.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57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Demonstrates openness to change and new approaches.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Aligns innovation efforts with team and organisational goals.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Guides teams to identify and implement creative solutions.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2. Identifies strategic opportunities for change and growth.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3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Shares ideas that improve team outcomes.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Shares best practices to enhance performance.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Promotes an adaptive mindset in team operations.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3. Builds an environment that fosters experimentation and adaptability.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2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Supports collaborative projects to drive results.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Monitors team adaptability to change initiatives.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Tracks the progress of transformation initiatives.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4. Encourages cross-functional collaboration to deliver results.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77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Adapts quickly to change, shifting priorities and processes.</a:t>
                      </a:r>
                      <a:endParaRPr lang="en-MY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Encourages feedback and iterative improvements.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Cultivates resilience and openness to change among teams.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5. Inspires teams to embrace new ways of working.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89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18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499F-CCC6-EF92-EEE3-9325003F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7F4AA7-B6A3-811C-D476-030F712BD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69664"/>
              </p:ext>
            </p:extLst>
          </p:nvPr>
        </p:nvGraphicFramePr>
        <p:xfrm>
          <a:off x="904240" y="526626"/>
          <a:ext cx="10383520" cy="537479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4241108046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4186214336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1449411172"/>
                    </a:ext>
                  </a:extLst>
                </a:gridCol>
                <a:gridCol w="2595880">
                  <a:extLst>
                    <a:ext uri="{9D8B030D-6E8A-4147-A177-3AD203B41FA5}">
                      <a16:colId xmlns:a16="http://schemas.microsoft.com/office/drawing/2014/main" val="5705624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Inspirational Leadership and Decision-Making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Leading Self 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Leading Others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Leading Managers</a:t>
                      </a:r>
                      <a:endParaRPr lang="en-MY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Leading the </a:t>
                      </a:r>
                      <a:r>
                        <a:rPr lang="en-US" b="1" dirty="0" err="1"/>
                        <a:t>Organisation</a:t>
                      </a:r>
                      <a:r>
                        <a:rPr lang="en-US" b="1" dirty="0"/>
                        <a:t> </a:t>
                      </a:r>
                      <a:endParaRPr lang="en-MY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6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1. Shows accountability for completing assigned responsibilities.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1. Facilitates team collaboration to overcome challenges.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1. Guides teams to achieve shared objectives with purpose and clarity.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1. Inspires confidence and clarity in </a:t>
                      </a:r>
                      <a:r>
                        <a:rPr lang="en-US" sz="1600" dirty="0" err="1"/>
                        <a:t>organisational</a:t>
                      </a:r>
                      <a:r>
                        <a:rPr lang="en-US" sz="1600" dirty="0"/>
                        <a:t> vision.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57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2.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Thinks critically and creatively to develop solutions for decision making.</a:t>
                      </a:r>
                      <a:endParaRPr lang="en-MY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2. Encourages innovation and creativity in decision-making.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2. Encourages accountability and initiative among team members.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 dirty="0"/>
                        <a:t>2. Makes impactful decisions under uncertainty.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3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3. Seeks opportunities to contribute to team goals.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3. Demonstrates empathy and understanding in guiding team members.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3. Resolves conflicts with tact and fairness.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 dirty="0"/>
                        <a:t>3. Leads by example through resilience and adaptability.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2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4. Adapts to team needs with a proactive attitude.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4. Promotes a solutions-focused mindset.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dirty="0"/>
                        <a:t>4. 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Maintains </a:t>
                      </a:r>
                      <a:r>
                        <a:rPr lang="en-US" sz="1600" strike="noStrike" dirty="0"/>
                        <a:t>c</a:t>
                      </a:r>
                      <a:r>
                        <a:rPr lang="en-US" sz="1600" dirty="0"/>
                        <a:t>omposure and decisiveness in challenging situations.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 dirty="0"/>
                        <a:t>4. Motivates teams to perform at their highest potential.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774341"/>
                  </a:ext>
                </a:extLst>
              </a:tr>
              <a:tr h="82819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dirty="0"/>
                        <a:t>5. Demonstrates </a:t>
                      </a:r>
                      <a:r>
                        <a:rPr lang="en-US" sz="1600" strike="noStrike" dirty="0">
                          <a:solidFill>
                            <a:schemeClr val="tx1"/>
                          </a:solidFill>
                        </a:rPr>
                        <a:t>commitment </a:t>
                      </a:r>
                      <a:r>
                        <a:rPr lang="en-US" sz="1600" strike="noStrike" dirty="0"/>
                        <a:t>in </a:t>
                      </a:r>
                      <a:r>
                        <a:rPr lang="en-US" sz="1600" dirty="0"/>
                        <a:t>learning and growth.</a:t>
                      </a:r>
                      <a:endParaRPr lang="en-MY" sz="1600" dirty="0">
                        <a:solidFill>
                          <a:srgbClr val="0063B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5. Reinforces the </a:t>
                      </a:r>
                      <a:r>
                        <a:rPr lang="en-US" sz="1600" dirty="0" err="1"/>
                        <a:t>organisation’s</a:t>
                      </a:r>
                      <a:r>
                        <a:rPr lang="en-US" sz="1600" dirty="0"/>
                        <a:t> values through daily actions.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5. Provides constructive feedback that drives improvement.</a:t>
                      </a:r>
                      <a:endParaRPr lang="en-MY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 dirty="0"/>
                        <a:t>5. Builds trust through transparent and timely communication.</a:t>
                      </a:r>
                      <a:endParaRPr lang="en-MY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89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783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39145-A9A2-24E9-86F9-6BA4B220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BB130A-4D4E-ACE8-CDD0-FC0FEBE3A4EB}"/>
              </a:ext>
            </a:extLst>
          </p:cNvPr>
          <p:cNvGraphicFramePr>
            <a:graphicFrameLocks noGrp="1"/>
          </p:cNvGraphicFramePr>
          <p:nvPr/>
        </p:nvGraphicFramePr>
        <p:xfrm>
          <a:off x="335280" y="800946"/>
          <a:ext cx="11226800" cy="53441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06700">
                  <a:extLst>
                    <a:ext uri="{9D8B030D-6E8A-4147-A177-3AD203B41FA5}">
                      <a16:colId xmlns:a16="http://schemas.microsoft.com/office/drawing/2014/main" val="4241108046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4186214336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1449411172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5705624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Collaborative Influence and Stakeholder Engagement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Leading Self 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Others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Managers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the Organisation </a:t>
                      </a:r>
                      <a:endParaRPr lang="en-MY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6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Communicates with clarity and professionalism in all engagements.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Engages </a:t>
                      </a:r>
                      <a:r>
                        <a:rPr lang="en-US" sz="1600"/>
                        <a:t>stakeholders to achieve shared objectives.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Facilitates alignment between stakeholder priorities and organisational goals.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Builds high-impact relationships with key stakeholders.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57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Supports team efforts in stakeholder management.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Maintains professionalism in all interactions.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Communicates effectively to address stakeholder concerns.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2. Negotiates and influences outcomes that drive business success.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3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Demonstrates understanding of stakeholder needs and priorities.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Aligns stakeholder feedback with team priorities.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Promotes transparency and accountability in partnerships.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3. Acts as a trusted advisor for organisational partnerships.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2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Contributes insights that improve stakeholder relationships.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Builds </a:t>
                      </a:r>
                      <a:r>
                        <a:rPr lang="en-US" sz="1600"/>
                        <a:t>a culture of collaboration and trust.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Builds long-term relationships that create value.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4. Adapts and collaborates seamlessly across cultural and organisational differences.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77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Builds rapport through consistent and respectful communication.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Tracks stakeholder satisfaction and suggests improvements.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Supports cross-functional collaboration to achieve results.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 5. Inspires confidence and trust in external collaborations.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89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45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5E78-23E7-9A30-908F-DBE708A2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ACEEBE-27B4-A101-0FEC-D66587B562B3}"/>
              </a:ext>
            </a:extLst>
          </p:cNvPr>
          <p:cNvGraphicFramePr>
            <a:graphicFrameLocks noGrp="1"/>
          </p:cNvGraphicFramePr>
          <p:nvPr/>
        </p:nvGraphicFramePr>
        <p:xfrm>
          <a:off x="396240" y="465666"/>
          <a:ext cx="11511280" cy="6075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77820">
                  <a:extLst>
                    <a:ext uri="{9D8B030D-6E8A-4147-A177-3AD203B41FA5}">
                      <a16:colId xmlns:a16="http://schemas.microsoft.com/office/drawing/2014/main" val="4241108046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4186214336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1449411172"/>
                    </a:ext>
                  </a:extLst>
                </a:gridCol>
                <a:gridCol w="2877820">
                  <a:extLst>
                    <a:ext uri="{9D8B030D-6E8A-4147-A177-3AD203B41FA5}">
                      <a16:colId xmlns:a16="http://schemas.microsoft.com/office/drawing/2014/main" val="57056249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/>
                        <a:t>Talent Development and Inclusion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3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Leading Self 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Others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Managers</a:t>
                      </a:r>
                      <a:endParaRPr lang="en-MY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Leading the Organisation </a:t>
                      </a:r>
                      <a:endParaRPr lang="en-MY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6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Participates in learning and development initiatives with enthusiasm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and commitment.</a:t>
                      </a:r>
                      <a:endParaRPr lang="en-MY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Fosters teamwork and an environment where all members feel valued and included.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Coaches teams to develop their potential and achieve goals.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1. Fosters an inclusive culture that supports collaboration and drives high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57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Contributes positively to team culture and morale.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Develops and e</a:t>
                      </a:r>
                      <a:r>
                        <a:rPr lang="en-US" sz="1600"/>
                        <a:t>ncourages team members to pursue learning opportunities.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2. Builds leadership capacity within the team.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2. Identifies and mentors future leaders to prepare them for greater responsibilities.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237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Demonstrates openness to feedback and personal improvement.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3. Promotes skill development to align with organisational needs.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600"/>
                        <a:t>3. Supports initiatives that encourage collaboration and foster an inclusive environment.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3. Leverages diverse perspectives to enhance team and organisational success.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2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Supports team-building efforts with a proactive attitude.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Recognises and celebrates individual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and team contributions and successes.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4. Encourages collaboration and innovation in problem-solving.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4. Encourages a culture of continuous learning and professional development.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77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Promotes inclusion through respectful and collaborative behaviour.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Leads by example in fostering a supportive work environment.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5. Provides actionable feedback to support professional growth.</a:t>
                      </a:r>
                      <a:endParaRPr lang="en-MY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/>
                        <a:t>5. Supports fair and transparent practices that enable employee growth and well-being.</a:t>
                      </a:r>
                      <a:endParaRPr lang="en-MY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89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376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124E-386C-7ABF-5286-AF5DD408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Leadership Levels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1291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3002-ADF6-3112-2393-34DDB1E9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A7C3AA-B3FF-04CC-738B-FD6C35BF54CB}"/>
              </a:ext>
            </a:extLst>
          </p:cNvPr>
          <p:cNvGraphicFramePr>
            <a:graphicFrameLocks noGrp="1"/>
          </p:cNvGraphicFramePr>
          <p:nvPr/>
        </p:nvGraphicFramePr>
        <p:xfrm>
          <a:off x="284480" y="123562"/>
          <a:ext cx="11765280" cy="632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880">
                  <a:extLst>
                    <a:ext uri="{9D8B030D-6E8A-4147-A177-3AD203B41FA5}">
                      <a16:colId xmlns:a16="http://schemas.microsoft.com/office/drawing/2014/main" val="2780856738"/>
                    </a:ext>
                  </a:extLst>
                </a:gridCol>
                <a:gridCol w="1960880">
                  <a:extLst>
                    <a:ext uri="{9D8B030D-6E8A-4147-A177-3AD203B41FA5}">
                      <a16:colId xmlns:a16="http://schemas.microsoft.com/office/drawing/2014/main" val="4023393603"/>
                    </a:ext>
                  </a:extLst>
                </a:gridCol>
                <a:gridCol w="1960880">
                  <a:extLst>
                    <a:ext uri="{9D8B030D-6E8A-4147-A177-3AD203B41FA5}">
                      <a16:colId xmlns:a16="http://schemas.microsoft.com/office/drawing/2014/main" val="1698543207"/>
                    </a:ext>
                  </a:extLst>
                </a:gridCol>
                <a:gridCol w="1960880">
                  <a:extLst>
                    <a:ext uri="{9D8B030D-6E8A-4147-A177-3AD203B41FA5}">
                      <a16:colId xmlns:a16="http://schemas.microsoft.com/office/drawing/2014/main" val="2003112124"/>
                    </a:ext>
                  </a:extLst>
                </a:gridCol>
                <a:gridCol w="1960880">
                  <a:extLst>
                    <a:ext uri="{9D8B030D-6E8A-4147-A177-3AD203B41FA5}">
                      <a16:colId xmlns:a16="http://schemas.microsoft.com/office/drawing/2014/main" val="2786668024"/>
                    </a:ext>
                  </a:extLst>
                </a:gridCol>
                <a:gridCol w="1960880">
                  <a:extLst>
                    <a:ext uri="{9D8B030D-6E8A-4147-A177-3AD203B41FA5}">
                      <a16:colId xmlns:a16="http://schemas.microsoft.com/office/drawing/2014/main" val="309836278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Leading the Organisation</a:t>
                      </a:r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055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Strategic Vision and Insight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Business Acumen and Financial Stewardship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Innovation and Transformation Leadership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Inspirational Leadership and Decision-Making</a:t>
                      </a:r>
                      <a:endParaRPr lang="en-MY" sz="1400"/>
                    </a:p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Collaborative Influence and Stakeholder Engagement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Talent Development and Inclusion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4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1. Inspires and communicates a bold vision for organisational success.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300"/>
                        <a:t>1. Demonstrates strategic </a:t>
                      </a:r>
                      <a:r>
                        <a:rPr lang="en-US" sz="1300" err="1"/>
                        <a:t>optimisation</a:t>
                      </a:r>
                      <a:r>
                        <a:rPr lang="en-US" sz="1300"/>
                        <a:t> of  </a:t>
                      </a:r>
                      <a:r>
                        <a:rPr lang="en-US" sz="1300" err="1"/>
                        <a:t>organisational</a:t>
                      </a:r>
                      <a:r>
                        <a:rPr lang="en-US" sz="1300"/>
                        <a:t> resources.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1. Champions a culture of innovation and transformation.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1. Inspires confidence and clarity in organisational vision.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1. Builds high-impact relationships with key stakeholders.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/>
                        <a:t>1. Fosters an inclusive culture that supports collaboration and drives high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7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2. Demonstrates foresight in anticipating industry shifts and challenges.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2. Influences organisational decisions with a holistic understanding of the business ecosystem.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2. Identifies strategic opportunities for change and growth.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2. Makes impactful decisions under uncertainty.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2. Negotiates and influences outcomes that drive business success.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2. Identifies and mentors future leaders to prepare them for greater responsibilities.</a:t>
                      </a:r>
                      <a:endParaRPr lang="en-MY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3. Aligns organisational priorities with long-term goals and global trends.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3. Balances financial stewardship with long-term business growth.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3. Builds an environment that fosters experimentation and adaptability.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3. Leads by example through resilience and adaptability.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3. Acts as a trusted advisor for organisational partnerships.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3. Leverages diverse perspectives to enhance team and organisational success.</a:t>
                      </a:r>
                      <a:endParaRPr lang="en-MY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03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4. Empowers teams to innovate and adapt strategies to meet evolving demands.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4. Guides the organisation towards sustainable and ethical practices.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4. Encourages cross-functional collaboration to deliver results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4. Motivates teams to perform at their highest potential.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4. Adapts and collaborates seamlessly across cultural and organisational differences.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4. Encourages a culture of continuous learning and professional development.</a:t>
                      </a:r>
                      <a:endParaRPr lang="en-MY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0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5. Advocates for a culture of strategic thinking across the organisation.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5. Cultivates accountability and ownership in budget management across teams.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5. Inspires teams to embrace new ways of working.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5. Builds trust through transparent and timely communication.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 5. Inspires confidence and trust in external collaborations.</a:t>
                      </a:r>
                      <a:endParaRPr lang="en-MY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300"/>
                        <a:t>5. Supports fair and transparent practices that enable employee growth and well-being.</a:t>
                      </a:r>
                      <a:endParaRPr lang="en-MY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4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329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E09E-958F-4B40-6836-B50CF078B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C66B21-D683-662A-C126-5940F7194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390130"/>
              </p:ext>
            </p:extLst>
          </p:nvPr>
        </p:nvGraphicFramePr>
        <p:xfrm>
          <a:off x="132080" y="134935"/>
          <a:ext cx="11958318" cy="625347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3053">
                  <a:extLst>
                    <a:ext uri="{9D8B030D-6E8A-4147-A177-3AD203B41FA5}">
                      <a16:colId xmlns:a16="http://schemas.microsoft.com/office/drawing/2014/main" val="2780856738"/>
                    </a:ext>
                  </a:extLst>
                </a:gridCol>
                <a:gridCol w="1993053">
                  <a:extLst>
                    <a:ext uri="{9D8B030D-6E8A-4147-A177-3AD203B41FA5}">
                      <a16:colId xmlns:a16="http://schemas.microsoft.com/office/drawing/2014/main" val="4023393603"/>
                    </a:ext>
                  </a:extLst>
                </a:gridCol>
                <a:gridCol w="1993053">
                  <a:extLst>
                    <a:ext uri="{9D8B030D-6E8A-4147-A177-3AD203B41FA5}">
                      <a16:colId xmlns:a16="http://schemas.microsoft.com/office/drawing/2014/main" val="1698543207"/>
                    </a:ext>
                  </a:extLst>
                </a:gridCol>
                <a:gridCol w="1993053">
                  <a:extLst>
                    <a:ext uri="{9D8B030D-6E8A-4147-A177-3AD203B41FA5}">
                      <a16:colId xmlns:a16="http://schemas.microsoft.com/office/drawing/2014/main" val="2003112124"/>
                    </a:ext>
                  </a:extLst>
                </a:gridCol>
                <a:gridCol w="1993053">
                  <a:extLst>
                    <a:ext uri="{9D8B030D-6E8A-4147-A177-3AD203B41FA5}">
                      <a16:colId xmlns:a16="http://schemas.microsoft.com/office/drawing/2014/main" val="2786668024"/>
                    </a:ext>
                  </a:extLst>
                </a:gridCol>
                <a:gridCol w="1993053">
                  <a:extLst>
                    <a:ext uri="{9D8B030D-6E8A-4147-A177-3AD203B41FA5}">
                      <a16:colId xmlns:a16="http://schemas.microsoft.com/office/drawing/2014/main" val="3098362785"/>
                    </a:ext>
                  </a:extLst>
                </a:gridCol>
              </a:tblGrid>
              <a:tr h="370839"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Leading Managers</a:t>
                      </a:r>
                      <a:endParaRPr lang="en-MY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055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Strategic Vision and Insight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Business Acumen and Financial Stewardship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Innovation and Transformation Leadership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Inspirational Leadership and Decision-Making</a:t>
                      </a:r>
                      <a:endParaRPr lang="en-MY" sz="1400" dirty="0"/>
                    </a:p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Collaborative Influence and Stakeholder Engagement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Talent Development and Inclusion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4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 Translates </a:t>
                      </a:r>
                      <a:r>
                        <a:rPr lang="en-US" sz="1400" dirty="0" err="1"/>
                        <a:t>organisational</a:t>
                      </a:r>
                      <a:r>
                        <a:rPr lang="en-US" sz="1400" dirty="0"/>
                        <a:t> vision into actionable and measurable objectives.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1.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</a:rPr>
                        <a:t>Optimises</a:t>
                      </a: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resource efficiency and strategic budget allocation.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 Leads innovation projects with a clear focus on business impact.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 Guides teams to achieve shared objectives with purpose and clarity.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 Facilitates alignment between stakeholder priorities and </a:t>
                      </a:r>
                      <a:r>
                        <a:rPr lang="en-US" sz="1400" dirty="0" err="1"/>
                        <a:t>organisational</a:t>
                      </a:r>
                      <a:r>
                        <a:rPr lang="en-US" sz="1400" dirty="0"/>
                        <a:t> goals.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 Coaches teams to develop their potential and achieve goals.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7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 Promotes a forward-thinking mindset within teams.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 Integrates customer and market insights into business planning.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 Guides teams to identify and implement creative solutions.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 Encourages accountability and initiative among team members.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 Communicates effectively to address stakeholder concerns.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2. Builds leadership capacity within the team.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3. </a:t>
                      </a: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Aligns team efforts with strategic goals.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3.  Balances financial health and innovation in decision-making.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3. Promotes an adaptive mindset in team operations.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3. Resolves conflicts with tact and fairness.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3. Promotes transparency and accountability in partnerships.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dirty="0"/>
                        <a:t>3. Supports initiatives that encourage collaboration and foster an inclusive environment.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03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4. Provides insights that shape broader </a:t>
                      </a:r>
                      <a:r>
                        <a:rPr lang="en-US" sz="1400" dirty="0" err="1"/>
                        <a:t>organisational</a:t>
                      </a:r>
                      <a:r>
                        <a:rPr lang="en-US" sz="1400" dirty="0"/>
                        <a:t> strategies.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4. Acts as a role model for ethical and data-driven decision-making.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4. Tracks the progress of transformation initiatives.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4. Maintains composure and decisiveness in challenging situations.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4. Builds long-term relationships that create value.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4. Encourages collaboration and innovation in problem-solving.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0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5. Builds consensus around strategic initiatives among stakeholders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5. Builds team capabilities to understand and act on key business drivers.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5. Cultivates resilience and openness to change among teams.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5. Provides constructive feedback that drives improvement.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5. Supports cross-functional collaboration to achieve results.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5. Provides actionable feedback to support professional growth.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4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256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F25A-7E33-BADE-1389-4ADCD293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A0F8FF-0174-6D03-E05E-2A5FD0C5E114}"/>
              </a:ext>
            </a:extLst>
          </p:cNvPr>
          <p:cNvGraphicFramePr>
            <a:graphicFrameLocks noGrp="1"/>
          </p:cNvGraphicFramePr>
          <p:nvPr/>
        </p:nvGraphicFramePr>
        <p:xfrm>
          <a:off x="81280" y="325614"/>
          <a:ext cx="12039600" cy="6040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780856738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4023393603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698543207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311212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786668024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309836278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Leading Others</a:t>
                      </a:r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055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Strategic Vision and Insight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Business Acumen and Financial Stewardship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Innovation and Transformation Leadership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Inspirational Leadership and Decision-Making</a:t>
                      </a:r>
                      <a:endParaRPr lang="en-MY" sz="1400"/>
                    </a:p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Collaborative Influence and Stakeholder Engagement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Talent Development and Inclusion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4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Identifies and aligns team goals with organisational strategy.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1. Demonstrates strong problem-solving capability in business operations.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Encourages process improvements and team collaboration.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Facilitates team collaboration to overcome challenges.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1. 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Engages stakeholders to achieve shared objectives.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Fosters teamwork and an environment where all members feel valued and included.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7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2. 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Leads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with </a:t>
                      </a:r>
                      <a:r>
                        <a:rPr lang="en-US" sz="1400"/>
                        <a:t>clarity and purpose within operational plans.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2. Enhances team understanding of broader financial and business implications.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Aligns innovation efforts with team and organisational goals.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Encourages innovation and creativity in decision-making.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Maintains professionalism in all interactions.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2. Develops and encourages team members to pursue learning opportunities.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Encourages team contribution to strategic discussions.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Leads team efforts to execute departmental strategies effectively.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Shares best practices to enhance performance.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Demonstrates empathy and understanding in guiding team members.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Aligns stakeholder feedback with team priorities.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Promotes skill development to align with organisational needs.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03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Demonstrates adaptability in responding to changing priorities.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Champions responsible and impactful resource use.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Monitors team adaptability to change initiatives.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Promotes a solutions-focused mindset.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4. 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Builds a culture of collaboration and trust.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4. </a:t>
                      </a:r>
                      <a:r>
                        <a:rPr lang="en-US" sz="1400" err="1"/>
                        <a:t>Recognises</a:t>
                      </a:r>
                      <a:r>
                        <a:rPr lang="en-US" sz="1400"/>
                        <a:t> and celebrates individual and team contributions and successes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0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Champions the implementation of innovative solutions.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Cultivates an innovative approach to team processes and problem-solving.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Encourages feedback and iterative improvements.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Reinforces the organisation’s values through daily actions.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Tracks stakeholder satisfaction and suggests improvements.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Leads by example in fostering a supportive work environment.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4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084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42D542-3023-789C-BD18-EC795E4A2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75841"/>
              </p:ext>
            </p:extLst>
          </p:nvPr>
        </p:nvGraphicFramePr>
        <p:xfrm>
          <a:off x="0" y="43145"/>
          <a:ext cx="12191998" cy="69417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20366">
                  <a:extLst>
                    <a:ext uri="{9D8B030D-6E8A-4147-A177-3AD203B41FA5}">
                      <a16:colId xmlns:a16="http://schemas.microsoft.com/office/drawing/2014/main" val="2780856738"/>
                    </a:ext>
                  </a:extLst>
                </a:gridCol>
                <a:gridCol w="2026525">
                  <a:extLst>
                    <a:ext uri="{9D8B030D-6E8A-4147-A177-3AD203B41FA5}">
                      <a16:colId xmlns:a16="http://schemas.microsoft.com/office/drawing/2014/main" val="4023393603"/>
                    </a:ext>
                  </a:extLst>
                </a:gridCol>
                <a:gridCol w="2026525">
                  <a:extLst>
                    <a:ext uri="{9D8B030D-6E8A-4147-A177-3AD203B41FA5}">
                      <a16:colId xmlns:a16="http://schemas.microsoft.com/office/drawing/2014/main" val="1698543207"/>
                    </a:ext>
                  </a:extLst>
                </a:gridCol>
                <a:gridCol w="2026525">
                  <a:extLst>
                    <a:ext uri="{9D8B030D-6E8A-4147-A177-3AD203B41FA5}">
                      <a16:colId xmlns:a16="http://schemas.microsoft.com/office/drawing/2014/main" val="2003112124"/>
                    </a:ext>
                  </a:extLst>
                </a:gridCol>
                <a:gridCol w="2026525">
                  <a:extLst>
                    <a:ext uri="{9D8B030D-6E8A-4147-A177-3AD203B41FA5}">
                      <a16:colId xmlns:a16="http://schemas.microsoft.com/office/drawing/2014/main" val="2786668024"/>
                    </a:ext>
                  </a:extLst>
                </a:gridCol>
                <a:gridCol w="2265532">
                  <a:extLst>
                    <a:ext uri="{9D8B030D-6E8A-4147-A177-3AD203B41FA5}">
                      <a16:colId xmlns:a16="http://schemas.microsoft.com/office/drawing/2014/main" val="3098362785"/>
                    </a:ext>
                  </a:extLst>
                </a:gridCol>
              </a:tblGrid>
              <a:tr h="351353">
                <a:tc gridSpan="6">
                  <a:txBody>
                    <a:bodyPr/>
                    <a:lstStyle/>
                    <a:p>
                      <a:pPr algn="ctr"/>
                      <a:r>
                        <a:rPr lang="en-US"/>
                        <a:t>Leading Self</a:t>
                      </a:r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055681"/>
                  </a:ext>
                </a:extLst>
              </a:tr>
              <a:tr h="1173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Strategic Vision and Insight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Business Acumen and Financial Stewardship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Innovation and Transformation Leadership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Inspirational Leadership and Decision-Making</a:t>
                      </a:r>
                      <a:endParaRPr lang="en-MY" sz="1400"/>
                    </a:p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Collaborative Influence and Stakeholder Engagement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Talent Development and Inclusion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084527"/>
                  </a:ext>
                </a:extLst>
              </a:tr>
              <a:tr h="9827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Aligns daily work with organisational strategic priorities.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Demonstrates fiscal responsibility and a commitment to organisational goals.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Participates enthusiastically in innovation efforts.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Shows accountability for completing assigned responsibilities.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1. Communicates with clarity and professionalism in all engagements.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1. Participates in learning and development initiatives wi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th enthusiasm 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and commitment.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776442"/>
                  </a:ext>
                </a:extLst>
              </a:tr>
              <a:tr h="1149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Demonstrates awareness of long-term business goals.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Embraces opportunities to learn about organisational operations.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Demonstrates openness to change and new approaches.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2. 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Thinks critically and creatively to develop solutions for decision making.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Supports team efforts in stakeholder management.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2. Contributes positively to team culture and morale.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8309"/>
                  </a:ext>
                </a:extLst>
              </a:tr>
              <a:tr h="1149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Communicates effectively about how individual tasks contribute to strategy.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3. 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Cultivates a mindset of continuous improvement and efficiency.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Shares ideas that improve team outcomes.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Seeks opportunities to contribute to team goals.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Demonstrates understanding of stakeholder needs and priorities.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3. Demonstrates openness to feedback and personal improvement.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03450"/>
                  </a:ext>
                </a:extLst>
              </a:tr>
              <a:tr h="10681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Seeks to understand and contribute to broader organisational objectives.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Supports team efforts by contributing insights and observations.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Supports collaborative projects to drive results.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Adapts to team needs with a proactive attitude.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Contributes insights that improve stakeholder relationships.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4. Supports team-building efforts with a proactive attitude.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08500"/>
                  </a:ext>
                </a:extLst>
              </a:tr>
              <a:tr h="871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Adapts proactively to strategic shifts and priorities.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Exhibits proactive learning about how daily operations impact the business.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5. Adapts quickly to change, shifting priorities and processes.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5. Demonstrates commitment for learning and growth.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Builds rapport through consistent and respectful communication.</a:t>
                      </a:r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5. Promotes inclusion through respectful and collaborative behaviour.</a:t>
                      </a:r>
                      <a:endParaRPr lang="en-MY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4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99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NBOL Generic Leadership Competencies &amp; Framework</vt:lpstr>
      <vt:lpstr>Strategic Leadership Competencies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By Leadership Levels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22</cp:revision>
  <dcterms:created xsi:type="dcterms:W3CDTF">2025-01-16T07:00:29Z</dcterms:created>
  <dcterms:modified xsi:type="dcterms:W3CDTF">2025-06-05T07:38:22Z</dcterms:modified>
</cp:coreProperties>
</file>